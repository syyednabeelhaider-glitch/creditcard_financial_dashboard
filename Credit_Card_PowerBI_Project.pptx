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Revenue by card category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E7C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Blue</c:v>
                  </c:pt>
                  <c:pt idx="1">
                    <c:v>Silver</c:v>
                  </c:pt>
                  <c:pt idx="2">
                    <c:v>Gold</c:v>
                  </c:pt>
                  <c:pt idx="3">
                    <c:v>Platinum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46.1</c:v>
                </c:pt>
                <c:pt idx="1">
                  <c:v>5.6</c:v>
                </c:pt>
                <c:pt idx="2">
                  <c:v>2.5</c:v>
                </c:pt>
                <c:pt idx="3">
                  <c:v>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a two-page Power BI dashboard on credit card transactions and customers, with the DAX behind it. Built from 10,108 customer records across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 first. KPI figures come from the dashboard cards: revenue 55.3M, interest 7.8M, 656K transactions, 10,108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 Storage mode is Import, so refresh pulls from the database on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 files were loaded into PostgreSQL with COPY ... CSV HEADER. A datestyle error was fixed with SET datestyle TO ISO, DMY. Extra week-53 rows were appended with the same COPY pattern. Power BI then connects to the ccdb database in Import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data tables joined 1:1 on client_num so customer attributes slice card metrics, plus a DAX-generated date table that enables time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SWITCH(TRUE(), ...) buckets customers into age and income bands used in the customer report. Revenue = fees + transaction amount + interest. The date table is built from the min and max week_start_date. Table prefixes are shortened on the slide for readability.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ALL() removes slicer filters so the latest week can be compared with the one before it. The DATEADD versions use the Date_Table, so they respond to filters. MoM and YoY reuse the same DIVIDE pattern with -1 MONTH and -1 YEAR. DIVIDE avoids divide-by-zero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is operational: KPIs, card category table, channel and spend breakdowns, quarterly revenue vs transaction count, and the growth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 is segmentation: who the customers are and which groups generate revenue. AgeGroup and Income_Group from the calculated columns power these visuals.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Percentages computed from the card category table: Blue 46.14M + Silver 5.59M = 51.73M of 55.32M total. Gender split from the donut: 30.22M male, 25.09M female.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the data suggests the business should do, then the skills this project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Credit Card Financial Dashboard  |  Power BI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Credit Card Financial Dashboard  |  Power BI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4389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Credit Card Financial Dashboard</a:t>
            </a:r>
            <a:endParaRPr lang="en-US" sz="3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Revenue, transaction and customer analytics by year, quarter and month, built with Power BI and DAX</a:t>
            </a:r>
            <a:endParaRPr lang="en-US" sz="1600" dirty="0"/>
          </a:p>
        </p:txBody>
      </p:sp>
      <p:sp>
        <p:nvSpPr>
          <p:cNvPr id="4" name="Chip Power BI"/>
          <p:cNvSpPr/>
          <p:nvPr/>
        </p:nvSpPr>
        <p:spPr>
          <a:xfrm>
            <a:off x="548640" y="384048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" name="Chip label Power BI"/>
          <p:cNvSpPr txBox="1"/>
          <p:nvPr/>
        </p:nvSpPr>
        <p:spPr>
          <a:xfrm>
            <a:off x="548640" y="3840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Power BI</a:t>
            </a:r>
            <a:endParaRPr lang="en-US" sz="1400" dirty="0"/>
          </a:p>
        </p:txBody>
      </p:sp>
      <p:sp>
        <p:nvSpPr>
          <p:cNvPr id="6" name="Chip DAX"/>
          <p:cNvSpPr/>
          <p:nvPr/>
        </p:nvSpPr>
        <p:spPr>
          <a:xfrm>
            <a:off x="1828800" y="384048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" name="Chip label DAX"/>
          <p:cNvSpPr txBox="1"/>
          <p:nvPr/>
        </p:nvSpPr>
        <p:spPr>
          <a:xfrm>
            <a:off x="1828800" y="3840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DAX</a:t>
            </a:r>
            <a:endParaRPr lang="en-US" sz="1400" dirty="0"/>
          </a:p>
        </p:txBody>
      </p:sp>
      <p:sp>
        <p:nvSpPr>
          <p:cNvPr id="8" name="Chip PostgreSQL"/>
          <p:cNvSpPr/>
          <p:nvPr/>
        </p:nvSpPr>
        <p:spPr>
          <a:xfrm>
            <a:off x="3108960" y="384048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9" name="Chip label PostgreSQL"/>
          <p:cNvSpPr txBox="1"/>
          <p:nvPr/>
        </p:nvSpPr>
        <p:spPr>
          <a:xfrm>
            <a:off x="3108960" y="3840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0" name="Card back"/>
          <p:cNvSpPr/>
          <p:nvPr/>
        </p:nvSpPr>
        <p:spPr>
          <a:xfrm>
            <a:off x="5440680" y="914400"/>
            <a:ext cx="3200400" cy="2011680"/>
          </a:xfrm>
          <a:prstGeom prst="roundRect">
            <a:avLst>
              <a:gd name="adj" fmla="val 6818"/>
            </a:avLst>
          </a:prstGeom>
          <a:solidFill>
            <a:schemeClr val="accent2"/>
          </a:solidFill>
          <a:ln/>
        </p:spPr>
      </p:sp>
      <p:sp>
        <p:nvSpPr>
          <p:cNvPr id="11" name="Card front"/>
          <p:cNvSpPr/>
          <p:nvPr/>
        </p:nvSpPr>
        <p:spPr>
          <a:xfrm>
            <a:off x="4983480" y="1600200"/>
            <a:ext cx="3200400" cy="2011680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Card chip"/>
          <p:cNvSpPr/>
          <p:nvPr/>
        </p:nvSpPr>
        <p:spPr>
          <a:xfrm>
            <a:off x="5257800" y="1965960"/>
            <a:ext cx="548640" cy="4114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3" name="Card number"/>
          <p:cNvSpPr txBox="1"/>
          <p:nvPr/>
        </p:nvSpPr>
        <p:spPr>
          <a:xfrm>
            <a:off x="52578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••••  ••••  ••••  2023</a:t>
            </a:r>
            <a:endParaRPr lang="en-US" sz="1400" dirty="0"/>
          </a:p>
        </p:txBody>
      </p:sp>
      <p:sp>
        <p:nvSpPr>
          <p:cNvPr id="14" name="Card label"/>
          <p:cNvSpPr txBox="1"/>
          <p:nvPr/>
        </p:nvSpPr>
        <p:spPr>
          <a:xfrm>
            <a:off x="525780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CREDIT CARD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objective</a:t>
            </a:r>
            <a:endParaRPr lang="en-US" sz="2800" dirty="0"/>
          </a:p>
        </p:txBody>
      </p:sp>
      <p:sp>
        <p:nvSpPr>
          <p:cNvPr id="3" name="Objective text"/>
          <p:cNvSpPr txBox="1"/>
          <p:nvPr/>
        </p:nvSpPr>
        <p:spPr>
          <a:xfrm>
            <a:off x="457200" y="11430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stakeholders an interactive view of credit card revenue, interest, transactions and customer segments, filterable by year, quarter, month and week, so trends can be spotted and acted on quickly.</a:t>
            </a:r>
            <a:endParaRPr lang="en-US" sz="1600" dirty="0"/>
          </a:p>
        </p:txBody>
      </p:sp>
      <p:sp>
        <p:nvSpPr>
          <p:cNvPr id="4" name="Questions heading"/>
          <p:cNvSpPr txBox="1"/>
          <p:nvPr/>
        </p:nvSpPr>
        <p:spPr>
          <a:xfrm>
            <a:off x="45720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Questions the dashboard answers</a:t>
            </a:r>
            <a:endParaRPr lang="en-US" sz="1400" dirty="0"/>
          </a:p>
        </p:txBody>
      </p:sp>
      <p:sp>
        <p:nvSpPr>
          <p:cNvPr id="5" name="Questions list"/>
          <p:cNvSpPr txBox="1"/>
          <p:nvPr/>
        </p:nvSpPr>
        <p:spPr>
          <a:xfrm>
            <a:off x="457200" y="297180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Which cards, channels and spend types drive revenue?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Which customer segments (age, income, state) are most valuable?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is revenue trending across quarters, months and years?</a:t>
            </a:r>
            <a:endParaRPr lang="en-US" sz="1400" dirty="0"/>
          </a:p>
        </p:txBody>
      </p:sp>
      <p:sp>
        <p:nvSpPr>
          <p:cNvPr id="6" name="KPI Total revenue card"/>
          <p:cNvSpPr/>
          <p:nvPr/>
        </p:nvSpPr>
        <p:spPr>
          <a:xfrm>
            <a:off x="4846320" y="118872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KPI Total revenue value"/>
          <p:cNvSpPr txBox="1"/>
          <p:nvPr/>
        </p:nvSpPr>
        <p:spPr>
          <a:xfrm>
            <a:off x="498348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55.3M</a:t>
            </a:r>
            <a:endParaRPr lang="en-US" sz="2600" dirty="0"/>
          </a:p>
        </p:txBody>
      </p:sp>
      <p:sp>
        <p:nvSpPr>
          <p:cNvPr id="8" name="KPI Total revenue label"/>
          <p:cNvSpPr txBox="1"/>
          <p:nvPr/>
        </p:nvSpPr>
        <p:spPr>
          <a:xfrm>
            <a:off x="498348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9" name="KPI Interest earned card"/>
          <p:cNvSpPr/>
          <p:nvPr/>
        </p:nvSpPr>
        <p:spPr>
          <a:xfrm>
            <a:off x="6858000" y="118872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KPI Interest earned value"/>
          <p:cNvSpPr txBox="1"/>
          <p:nvPr/>
        </p:nvSpPr>
        <p:spPr>
          <a:xfrm>
            <a:off x="699516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7.8M</a:t>
            </a:r>
            <a:endParaRPr lang="en-US" sz="2600" dirty="0"/>
          </a:p>
        </p:txBody>
      </p:sp>
      <p:sp>
        <p:nvSpPr>
          <p:cNvPr id="11" name="KPI Interest earned label"/>
          <p:cNvSpPr txBox="1"/>
          <p:nvPr/>
        </p:nvSpPr>
        <p:spPr>
          <a:xfrm>
            <a:off x="699516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Interest earned</a:t>
            </a:r>
            <a:endParaRPr lang="en-US" sz="1400" dirty="0"/>
          </a:p>
        </p:txBody>
      </p:sp>
      <p:sp>
        <p:nvSpPr>
          <p:cNvPr id="12" name="KPI Transactions card"/>
          <p:cNvSpPr/>
          <p:nvPr/>
        </p:nvSpPr>
        <p:spPr>
          <a:xfrm>
            <a:off x="4846320" y="288036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KPI Transactions value"/>
          <p:cNvSpPr txBox="1"/>
          <p:nvPr/>
        </p:nvSpPr>
        <p:spPr>
          <a:xfrm>
            <a:off x="4983480" y="2971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656K</a:t>
            </a:r>
            <a:endParaRPr lang="en-US" sz="2600" dirty="0"/>
          </a:p>
        </p:txBody>
      </p:sp>
      <p:sp>
        <p:nvSpPr>
          <p:cNvPr id="14" name="KPI Transactions label"/>
          <p:cNvSpPr txBox="1"/>
          <p:nvPr/>
        </p:nvSpPr>
        <p:spPr>
          <a:xfrm>
            <a:off x="4983480" y="3429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15" name="KPI Customers card"/>
          <p:cNvSpPr/>
          <p:nvPr/>
        </p:nvSpPr>
        <p:spPr>
          <a:xfrm>
            <a:off x="6858000" y="288036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KPI Customers value"/>
          <p:cNvSpPr txBox="1"/>
          <p:nvPr/>
        </p:nvSpPr>
        <p:spPr>
          <a:xfrm>
            <a:off x="6995160" y="2971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10,108</a:t>
            </a:r>
            <a:endParaRPr lang="en-US" sz="2600" dirty="0"/>
          </a:p>
        </p:txBody>
      </p:sp>
      <p:sp>
        <p:nvSpPr>
          <p:cNvPr id="17" name="KPI Customers label"/>
          <p:cNvSpPr txBox="1"/>
          <p:nvPr/>
        </p:nvSpPr>
        <p:spPr>
          <a:xfrm>
            <a:off x="6995160" y="3429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raw data to dashboard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1143000" y="1188720"/>
            <a:ext cx="75438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Step badge 1"/>
          <p:cNvSpPr/>
          <p:nvPr/>
        </p:nvSpPr>
        <p:spPr>
          <a:xfrm>
            <a:off x="457200" y="124358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SV to PostgreSQ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71600"/>
            <a:ext cx="219456" cy="219456"/>
          </a:xfrm>
          <a:prstGeom prst="rect">
            <a:avLst/>
          </a:prstGeom>
        </p:spPr>
      </p:pic>
      <p:sp>
        <p:nvSpPr>
          <p:cNvPr id="6" name="Step text 1"/>
          <p:cNvSpPr txBox="1"/>
          <p:nvPr/>
        </p:nvSpPr>
        <p:spPr>
          <a:xfrm>
            <a:off x="1280160" y="121615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CSV to PostgreSQL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Tables created in the ccdb database, then CSV data loaded with COPY (10,108 rows each)</a:t>
            </a:r>
            <a:endParaRPr lang="en-US" sz="1500" dirty="0"/>
          </a:p>
        </p:txBody>
      </p:sp>
      <p:sp>
        <p:nvSpPr>
          <p:cNvPr id="7" name="Step card 2"/>
          <p:cNvSpPr/>
          <p:nvPr/>
        </p:nvSpPr>
        <p:spPr>
          <a:xfrm>
            <a:off x="1143000" y="1865376"/>
            <a:ext cx="75438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8" name="Step badge 2"/>
          <p:cNvSpPr/>
          <p:nvPr/>
        </p:nvSpPr>
        <p:spPr>
          <a:xfrm>
            <a:off x="457200" y="192024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ower BI impor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048256"/>
            <a:ext cx="219456" cy="219456"/>
          </a:xfrm>
          <a:prstGeom prst="rect">
            <a:avLst/>
          </a:prstGeom>
        </p:spPr>
      </p:pic>
      <p:sp>
        <p:nvSpPr>
          <p:cNvPr id="10" name="Step text 2"/>
          <p:cNvSpPr txBox="1"/>
          <p:nvPr/>
        </p:nvSpPr>
        <p:spPr>
          <a:xfrm>
            <a:off x="1280160" y="189280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Power BI import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Connected to PostgreSQL in Import mode; Date_Table generated with DAX</a:t>
            </a:r>
            <a:endParaRPr lang="en-US" sz="1500" dirty="0"/>
          </a:p>
        </p:txBody>
      </p:sp>
      <p:sp>
        <p:nvSpPr>
          <p:cNvPr id="11" name="Step card 3"/>
          <p:cNvSpPr/>
          <p:nvPr/>
        </p:nvSpPr>
        <p:spPr>
          <a:xfrm>
            <a:off x="1143000" y="2542032"/>
            <a:ext cx="75438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Step badge 3"/>
          <p:cNvSpPr/>
          <p:nvPr/>
        </p:nvSpPr>
        <p:spPr>
          <a:xfrm>
            <a:off x="457200" y="259689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Data mode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24912"/>
            <a:ext cx="219456" cy="219456"/>
          </a:xfrm>
          <a:prstGeom prst="rect">
            <a:avLst/>
          </a:prstGeom>
        </p:spPr>
      </p:pic>
      <p:sp>
        <p:nvSpPr>
          <p:cNvPr id="14" name="Step text 3"/>
          <p:cNvSpPr txBox="1"/>
          <p:nvPr/>
        </p:nvSpPr>
        <p:spPr>
          <a:xfrm>
            <a:off x="1280160" y="256946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model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One-to-one on client_num between customers and cards; calendar joined one-to-many</a:t>
            </a:r>
            <a:endParaRPr lang="en-US" sz="1500" dirty="0"/>
          </a:p>
        </p:txBody>
      </p:sp>
      <p:sp>
        <p:nvSpPr>
          <p:cNvPr id="15" name="Step card 4"/>
          <p:cNvSpPr/>
          <p:nvPr/>
        </p:nvSpPr>
        <p:spPr>
          <a:xfrm>
            <a:off x="1143000" y="3218688"/>
            <a:ext cx="75438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Step badge 4"/>
          <p:cNvSpPr/>
          <p:nvPr/>
        </p:nvSpPr>
        <p:spPr>
          <a:xfrm>
            <a:off x="457200" y="327355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DAX lay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401568"/>
            <a:ext cx="219456" cy="219456"/>
          </a:xfrm>
          <a:prstGeom prst="rect">
            <a:avLst/>
          </a:prstGeom>
        </p:spPr>
      </p:pic>
      <p:sp>
        <p:nvSpPr>
          <p:cNvPr id="18" name="Step text 4"/>
          <p:cNvSpPr txBox="1"/>
          <p:nvPr/>
        </p:nvSpPr>
        <p:spPr>
          <a:xfrm>
            <a:off x="1280160" y="32461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DAX layer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Calculated columns for segments and revenue; measures for WoW, MoM and YoY growth</a:t>
            </a:r>
            <a:endParaRPr lang="en-US" sz="1500" dirty="0"/>
          </a:p>
        </p:txBody>
      </p:sp>
      <p:sp>
        <p:nvSpPr>
          <p:cNvPr id="19" name="Step card 5"/>
          <p:cNvSpPr/>
          <p:nvPr/>
        </p:nvSpPr>
        <p:spPr>
          <a:xfrm>
            <a:off x="1143000" y="3895344"/>
            <a:ext cx="75438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0" name="Step badge 5"/>
          <p:cNvSpPr/>
          <p:nvPr/>
        </p:nvSpPr>
        <p:spPr>
          <a:xfrm>
            <a:off x="457200" y="39502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Interactive dashboard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078224"/>
            <a:ext cx="219456" cy="219456"/>
          </a:xfrm>
          <a:prstGeom prst="rect">
            <a:avLst/>
          </a:prstGeom>
        </p:spPr>
      </p:pic>
      <p:sp>
        <p:nvSpPr>
          <p:cNvPr id="22" name="Step text 5"/>
          <p:cNvSpPr txBox="1"/>
          <p:nvPr/>
        </p:nvSpPr>
        <p:spPr>
          <a:xfrm>
            <a:off x="1280160" y="392277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Interactive dashboards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Two report pages with week, quarter and gender slicers, plus insights and recommendations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Loading data into PostgreSQL</a:t>
            </a:r>
            <a:endParaRPr lang="en-US" sz="2800" dirty="0"/>
          </a:p>
        </p:txBody>
      </p:sp>
      <p:sp>
        <p:nvSpPr>
          <p:cNvPr id="3" name="SQLCreate card"/>
          <p:cNvSpPr/>
          <p:nvPr/>
        </p:nvSpPr>
        <p:spPr>
          <a:xfrm>
            <a:off x="457200" y="1143000"/>
            <a:ext cx="4114800" cy="3395167"/>
          </a:xfrm>
          <a:prstGeom prst="roundRect">
            <a:avLst>
              <a:gd name="adj" fmla="val 2155"/>
            </a:avLst>
          </a:prstGeom>
          <a:solidFill>
            <a:schemeClr val="tx1"/>
          </a:solidFill>
          <a:ln/>
        </p:spPr>
      </p:sp>
      <p:sp>
        <p:nvSpPr>
          <p:cNvPr id="4" name="SQLCreate label"/>
          <p:cNvSpPr txBox="1"/>
          <p:nvPr/>
        </p:nvSpPr>
        <p:spPr>
          <a:xfrm>
            <a:off x="59436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STEP 1  |  CREATE DATABASE AND TABLES</a:t>
            </a:r>
            <a:endParaRPr lang="en-US" sz="1100" dirty="0"/>
          </a:p>
        </p:txBody>
      </p:sp>
      <p:sp>
        <p:nvSpPr>
          <p:cNvPr id="5" name="SQLCreate code"/>
          <p:cNvSpPr txBox="1"/>
          <p:nvPr/>
        </p:nvSpPr>
        <p:spPr>
          <a:xfrm>
            <a:off x="594360" y="1508760"/>
            <a:ext cx="3840480" cy="2937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database and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ccdb;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cc_detail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Client_Num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Card_Category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Week_Start_Date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Credit_Limit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Total_Trans_Amt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Interest_Earned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columns in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cust_detail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Client_Num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Customer_Age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Income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columns in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6" name="SQLCopy card"/>
          <p:cNvSpPr/>
          <p:nvPr/>
        </p:nvSpPr>
        <p:spPr>
          <a:xfrm>
            <a:off x="4754880" y="1143000"/>
            <a:ext cx="3931920" cy="2631643"/>
          </a:xfrm>
          <a:prstGeom prst="roundRect">
            <a:avLst>
              <a:gd name="adj" fmla="val 2780"/>
            </a:avLst>
          </a:prstGeom>
          <a:solidFill>
            <a:schemeClr val="tx1"/>
          </a:solidFill>
          <a:ln/>
        </p:spPr>
      </p:sp>
      <p:sp>
        <p:nvSpPr>
          <p:cNvPr id="7" name="SQLCopy label"/>
          <p:cNvSpPr txBox="1"/>
          <p:nvPr/>
        </p:nvSpPr>
        <p:spPr>
          <a:xfrm>
            <a:off x="489204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STEP 2  |  LOAD CSV FILES WITH COPY</a:t>
            </a:r>
            <a:endParaRPr lang="en-US" sz="1100" dirty="0"/>
          </a:p>
        </p:txBody>
      </p:sp>
      <p:sp>
        <p:nvSpPr>
          <p:cNvPr id="8" name="SQLCopy code"/>
          <p:cNvSpPr txBox="1"/>
          <p:nvPr/>
        </p:nvSpPr>
        <p:spPr>
          <a:xfrm>
            <a:off x="4892040" y="1508760"/>
            <a:ext cx="3657600" cy="2174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load the main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cc_detail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'D:\credit_card.csv'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HEADER;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fix date format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datestyle TO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'ISO, DMY'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append week-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cc_detail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'D:\cc_add.csv'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HEADER;</a:t>
            </a:r>
            <a:endParaRPr lang="en-US" sz="1000" dirty="0"/>
          </a:p>
        </p:txBody>
      </p:sp>
      <p:sp>
        <p:nvSpPr>
          <p:cNvPr id="9" name="SQL next card"/>
          <p:cNvSpPr/>
          <p:nvPr/>
        </p:nvSpPr>
        <p:spPr>
          <a:xfrm>
            <a:off x="4754880" y="3911803"/>
            <a:ext cx="3931920" cy="632765"/>
          </a:xfrm>
          <a:prstGeom prst="roundRect">
            <a:avLst>
              <a:gd name="adj" fmla="val 11561"/>
            </a:avLst>
          </a:prstGeom>
          <a:solidFill>
            <a:schemeClr val="bg2"/>
          </a:solidFill>
          <a:ln/>
        </p:spPr>
      </p:sp>
      <p:sp>
        <p:nvSpPr>
          <p:cNvPr id="10" name="SQL next text"/>
          <p:cNvSpPr txBox="1"/>
          <p:nvPr/>
        </p:nvSpPr>
        <p:spPr>
          <a:xfrm>
            <a:off x="4892040" y="3939235"/>
            <a:ext cx="365760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Step 3: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 BI connects to ccdb and imports the tables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 model</a:t>
            </a:r>
            <a:endParaRPr lang="en-US" sz="2800" dirty="0"/>
          </a:p>
        </p:txBody>
      </p:sp>
      <p:pic>
        <p:nvPicPr>
          <p:cNvPr id="3" name="Image 0" descr="Power BI model view showing cust_details, cc_details and Date_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97680" cy="3320935"/>
          </a:xfrm>
          <a:prstGeom prst="rect">
            <a:avLst/>
          </a:prstGeom>
        </p:spPr>
      </p:pic>
      <p:sp>
        <p:nvSpPr>
          <p:cNvPr id="4" name="Table card 1"/>
          <p:cNvSpPr/>
          <p:nvPr/>
        </p:nvSpPr>
        <p:spPr>
          <a:xfrm>
            <a:off x="5029200" y="118872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Table text 1"/>
          <p:cNvSpPr txBox="1"/>
          <p:nvPr/>
        </p:nvSpPr>
        <p:spPr>
          <a:xfrm>
            <a:off x="5166360" y="1234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cc_details  |  Fact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Fees, interest, transactions. One-to-one with customers on client_num</a:t>
            </a:r>
            <a:endParaRPr lang="en-US" sz="1500" dirty="0"/>
          </a:p>
        </p:txBody>
      </p:sp>
      <p:sp>
        <p:nvSpPr>
          <p:cNvPr id="6" name="Table card 2"/>
          <p:cNvSpPr/>
          <p:nvPr/>
        </p:nvSpPr>
        <p:spPr>
          <a:xfrm>
            <a:off x="5029200" y="233172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Table text 2"/>
          <p:cNvSpPr txBox="1"/>
          <p:nvPr/>
        </p:nvSpPr>
        <p:spPr>
          <a:xfrm>
            <a:off x="516636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cust_details  |  Dimension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Age, income, state, education, 10,108 customers</a:t>
            </a:r>
            <a:endParaRPr lang="en-US" sz="1500" dirty="0"/>
          </a:p>
        </p:txBody>
      </p:sp>
      <p:sp>
        <p:nvSpPr>
          <p:cNvPr id="8" name="Table card 3"/>
          <p:cNvSpPr/>
          <p:nvPr/>
        </p:nvSpPr>
        <p:spPr>
          <a:xfrm>
            <a:off x="5029200" y="347472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Table text 3"/>
          <p:cNvSpPr txBox="1"/>
          <p:nvPr/>
        </p:nvSpPr>
        <p:spPr>
          <a:xfrm>
            <a:off x="516636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Date_Table  |  Calendar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358 days from Jan 2023, one-to-many to card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DAX: calculated columns and tables</a:t>
            </a:r>
            <a:endParaRPr lang="en-US" sz="2800" dirty="0"/>
          </a:p>
        </p:txBody>
      </p:sp>
      <p:sp>
        <p:nvSpPr>
          <p:cNvPr id="3" name="AgeGroup card"/>
          <p:cNvSpPr/>
          <p:nvPr/>
        </p:nvSpPr>
        <p:spPr>
          <a:xfrm>
            <a:off x="457200" y="1143000"/>
            <a:ext cx="4846320" cy="1562710"/>
          </a:xfrm>
          <a:prstGeom prst="roundRect">
            <a:avLst>
              <a:gd name="adj" fmla="val 4681"/>
            </a:avLst>
          </a:prstGeom>
          <a:solidFill>
            <a:schemeClr val="tx1"/>
          </a:solidFill>
          <a:ln/>
        </p:spPr>
      </p:sp>
      <p:sp>
        <p:nvSpPr>
          <p:cNvPr id="4" name="AgeGroup label"/>
          <p:cNvSpPr txBox="1"/>
          <p:nvPr/>
        </p:nvSpPr>
        <p:spPr>
          <a:xfrm>
            <a:off x="594360" y="1216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CALCULATED COLUMN  |  cust_details</a:t>
            </a:r>
            <a:endParaRPr lang="en-US" sz="1100" dirty="0"/>
          </a:p>
        </p:txBody>
      </p:sp>
      <p:sp>
        <p:nvSpPr>
          <p:cNvPr id="5" name="AgeGroup code"/>
          <p:cNvSpPr txBox="1"/>
          <p:nvPr/>
        </p:nvSpPr>
        <p:spPr>
          <a:xfrm>
            <a:off x="594360" y="1508760"/>
            <a:ext cx="45720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AgeGroup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"20-30"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"30-40"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"40-50"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"50-60"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[customer_age]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"60+"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6" name="IncomeGroup card"/>
          <p:cNvSpPr/>
          <p:nvPr/>
        </p:nvSpPr>
        <p:spPr>
          <a:xfrm>
            <a:off x="457200" y="2888590"/>
            <a:ext cx="4846320" cy="1257300"/>
          </a:xfrm>
          <a:prstGeom prst="roundRect">
            <a:avLst>
              <a:gd name="adj" fmla="val 5818"/>
            </a:avLst>
          </a:prstGeom>
          <a:solidFill>
            <a:schemeClr val="tx1"/>
          </a:solidFill>
          <a:ln/>
        </p:spPr>
      </p:sp>
      <p:sp>
        <p:nvSpPr>
          <p:cNvPr id="7" name="IncomeGroup label"/>
          <p:cNvSpPr txBox="1"/>
          <p:nvPr/>
        </p:nvSpPr>
        <p:spPr>
          <a:xfrm>
            <a:off x="594360" y="296174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CALCULATED COLUMN  |  cust_details</a:t>
            </a:r>
            <a:endParaRPr lang="en-US" sz="1100" dirty="0"/>
          </a:p>
        </p:txBody>
      </p:sp>
      <p:sp>
        <p:nvSpPr>
          <p:cNvPr id="8" name="IncomeGroup code"/>
          <p:cNvSpPr txBox="1"/>
          <p:nvPr/>
        </p:nvSpPr>
        <p:spPr>
          <a:xfrm>
            <a:off x="594360" y="32543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Income_Group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[income]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35000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"Low"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[income]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35000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[income]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70000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[income]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70000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Revenue card"/>
          <p:cNvSpPr/>
          <p:nvPr/>
        </p:nvSpPr>
        <p:spPr>
          <a:xfrm>
            <a:off x="5486400" y="1143000"/>
            <a:ext cx="3200400" cy="1562710"/>
          </a:xfrm>
          <a:prstGeom prst="roundRect">
            <a:avLst>
              <a:gd name="adj" fmla="val 4681"/>
            </a:avLst>
          </a:prstGeom>
          <a:solidFill>
            <a:schemeClr val="tx1"/>
          </a:solidFill>
          <a:ln/>
        </p:spPr>
      </p:sp>
      <p:sp>
        <p:nvSpPr>
          <p:cNvPr id="10" name="Revenue label"/>
          <p:cNvSpPr txBox="1"/>
          <p:nvPr/>
        </p:nvSpPr>
        <p:spPr>
          <a:xfrm>
            <a:off x="5623560" y="1216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CALCULATED COLUMNS  |  cc_details</a:t>
            </a:r>
            <a:endParaRPr lang="en-US" sz="1100" dirty="0"/>
          </a:p>
        </p:txBody>
      </p:sp>
      <p:sp>
        <p:nvSpPr>
          <p:cNvPr id="11" name="Revenue code"/>
          <p:cNvSpPr txBox="1"/>
          <p:nvPr/>
        </p:nvSpPr>
        <p:spPr>
          <a:xfrm>
            <a:off x="5623560" y="1508760"/>
            <a:ext cx="292608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[annual_fees]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[total_trans_amt]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[interest_earned]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week_num2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WEEKNUM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[week_start_date]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DateTable card"/>
          <p:cNvSpPr/>
          <p:nvPr/>
        </p:nvSpPr>
        <p:spPr>
          <a:xfrm>
            <a:off x="5486400" y="2888590"/>
            <a:ext cx="3200400" cy="1868119"/>
          </a:xfrm>
          <a:prstGeom prst="roundRect">
            <a:avLst>
              <a:gd name="adj" fmla="val 3916"/>
            </a:avLst>
          </a:prstGeom>
          <a:solidFill>
            <a:schemeClr val="tx1"/>
          </a:solidFill>
          <a:ln/>
        </p:spPr>
      </p:sp>
      <p:sp>
        <p:nvSpPr>
          <p:cNvPr id="13" name="DateTable label"/>
          <p:cNvSpPr txBox="1"/>
          <p:nvPr/>
        </p:nvSpPr>
        <p:spPr>
          <a:xfrm>
            <a:off x="5623560" y="296174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CALCULATED TABLE  |  Date_Table</a:t>
            </a:r>
            <a:endParaRPr lang="en-US" sz="1100" dirty="0"/>
          </a:p>
        </p:txBody>
      </p:sp>
      <p:sp>
        <p:nvSpPr>
          <p:cNvPr id="14" name="DateTable code"/>
          <p:cNvSpPr txBox="1"/>
          <p:nvPr/>
        </p:nvSpPr>
        <p:spPr>
          <a:xfrm>
            <a:off x="5623560" y="3254350"/>
            <a:ext cx="2926080" cy="1410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ADDCOLUMNS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[week_start_date]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[week_start_date]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"Year"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 Number"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"MMM"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"YearMonth"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)*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DAX: measures and time intelligence</a:t>
            </a:r>
            <a:endParaRPr lang="en-US" sz="2800" dirty="0"/>
          </a:p>
        </p:txBody>
      </p:sp>
      <p:sp>
        <p:nvSpPr>
          <p:cNvPr id="3" name="WeekMeasures card"/>
          <p:cNvSpPr/>
          <p:nvPr/>
        </p:nvSpPr>
        <p:spPr>
          <a:xfrm>
            <a:off x="457200" y="1143000"/>
            <a:ext cx="4114800" cy="2478938"/>
          </a:xfrm>
          <a:prstGeom prst="roundRect">
            <a:avLst>
              <a:gd name="adj" fmla="val 2951"/>
            </a:avLst>
          </a:prstGeom>
          <a:solidFill>
            <a:schemeClr val="tx1"/>
          </a:solidFill>
          <a:ln/>
        </p:spPr>
      </p:sp>
      <p:sp>
        <p:nvSpPr>
          <p:cNvPr id="4" name="WeekMeasures label"/>
          <p:cNvSpPr txBox="1"/>
          <p:nvPr/>
        </p:nvSpPr>
        <p:spPr>
          <a:xfrm>
            <a:off x="59436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MEASURES  |  latest-week snapshot</a:t>
            </a:r>
            <a:endParaRPr lang="en-US" sz="1100" dirty="0"/>
          </a:p>
        </p:txBody>
      </p:sp>
      <p:sp>
        <p:nvSpPr>
          <p:cNvPr id="5" name="WeekMeasures code"/>
          <p:cNvSpPr txBox="1"/>
          <p:nvPr/>
        </p:nvSpPr>
        <p:spPr>
          <a:xfrm>
            <a:off x="594360" y="1508760"/>
            <a:ext cx="3840480" cy="202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TotalRevenue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(cc_details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[Revenue]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Current_Week_Revenue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(cc_details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[Revenue]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(cc_details),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cc_details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[week_num2]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(cc_details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[week_num2]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Previous_week_revenue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(cc_details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[Revenue]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(cc_details),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cc_details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[week_num2]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(cc_details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[week_num2]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</p:txBody>
      </p:sp>
      <p:sp>
        <p:nvSpPr>
          <p:cNvPr id="6" name="WoW card"/>
          <p:cNvSpPr/>
          <p:nvPr/>
        </p:nvSpPr>
        <p:spPr>
          <a:xfrm>
            <a:off x="4754880" y="1143000"/>
            <a:ext cx="3931920" cy="1715414"/>
          </a:xfrm>
          <a:prstGeom prst="roundRect">
            <a:avLst>
              <a:gd name="adj" fmla="val 4264"/>
            </a:avLst>
          </a:prstGeom>
          <a:solidFill>
            <a:schemeClr val="tx1"/>
          </a:solidFill>
          <a:ln/>
        </p:spPr>
      </p:sp>
      <p:sp>
        <p:nvSpPr>
          <p:cNvPr id="7" name="WoW label"/>
          <p:cNvSpPr txBox="1"/>
          <p:nvPr/>
        </p:nvSpPr>
        <p:spPr>
          <a:xfrm>
            <a:off x="489204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MEASURES  |  week-over-week growth</a:t>
            </a:r>
            <a:endParaRPr lang="en-US" sz="1100" dirty="0"/>
          </a:p>
        </p:txBody>
      </p:sp>
      <p:sp>
        <p:nvSpPr>
          <p:cNvPr id="8" name="WoW code"/>
          <p:cNvSpPr txBox="1"/>
          <p:nvPr/>
        </p:nvSpPr>
        <p:spPr>
          <a:xfrm>
            <a:off x="4892040" y="1508760"/>
            <a:ext cx="3657600" cy="125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Previous_week's_revenue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[TotalRevenue]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DATEADD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(Date_Table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-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DAY))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WoW_growth%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[TotalRevenue]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[Previous_week's_revenue]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[Previous_week's_revenue]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Pattern card"/>
          <p:cNvSpPr/>
          <p:nvPr/>
        </p:nvSpPr>
        <p:spPr>
          <a:xfrm>
            <a:off x="4754880" y="3041294"/>
            <a:ext cx="3931920" cy="1484986"/>
          </a:xfrm>
          <a:prstGeom prst="roundRect">
            <a:avLst>
              <a:gd name="adj" fmla="val 4926"/>
            </a:avLst>
          </a:prstGeom>
          <a:solidFill>
            <a:schemeClr val="bg2"/>
          </a:solidFill>
          <a:ln/>
        </p:spPr>
      </p:sp>
      <p:sp>
        <p:nvSpPr>
          <p:cNvPr id="10" name="Pattern text"/>
          <p:cNvSpPr txBox="1"/>
          <p:nvPr/>
        </p:nvSpPr>
        <p:spPr>
          <a:xfrm>
            <a:off x="4892040" y="3087014"/>
            <a:ext cx="3657600" cy="1393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Same pattern, new offset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MoM_Growth%: DATEADD(..., -1, MONTH)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YoY_Growth%: DATEADD(..., -1, YEAR)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 1: transaction report</a:t>
            </a:r>
            <a:endParaRPr lang="en-US" sz="2800" dirty="0"/>
          </a:p>
        </p:txBody>
      </p:sp>
      <p:pic>
        <p:nvPicPr>
          <p:cNvPr id="3" name="Image 0" descr="Credit Card Transaction Report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160241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457200" y="4422113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KPIs, card and channel breakdowns, quarterly and growth trends</a:t>
            </a:r>
            <a:endParaRPr lang="en-US" sz="1200" dirty="0"/>
          </a:p>
        </p:txBody>
      </p:sp>
      <p:sp>
        <p:nvSpPr>
          <p:cNvPr id="5" name="Txn stat 1 card"/>
          <p:cNvSpPr/>
          <p:nvPr/>
        </p:nvSpPr>
        <p:spPr>
          <a:xfrm>
            <a:off x="6355080" y="1188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6" name="Txn stat 1 value"/>
          <p:cNvSpPr txBox="1"/>
          <p:nvPr/>
        </p:nvSpPr>
        <p:spPr>
          <a:xfrm>
            <a:off x="6492240" y="1280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1.72%</a:t>
            </a:r>
            <a:endParaRPr lang="en-US" sz="2600" dirty="0"/>
          </a:p>
        </p:txBody>
      </p:sp>
      <p:sp>
        <p:nvSpPr>
          <p:cNvPr id="7" name="Txn stat 1 label"/>
          <p:cNvSpPr txBox="1"/>
          <p:nvPr/>
        </p:nvSpPr>
        <p:spPr>
          <a:xfrm>
            <a:off x="649224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Week-over-week revenue growth</a:t>
            </a:r>
            <a:endParaRPr lang="en-US" sz="1400" dirty="0"/>
          </a:p>
        </p:txBody>
      </p:sp>
      <p:sp>
        <p:nvSpPr>
          <p:cNvPr id="8" name="Txn stat 2 card"/>
          <p:cNvSpPr/>
          <p:nvPr/>
        </p:nvSpPr>
        <p:spPr>
          <a:xfrm>
            <a:off x="6355080" y="2331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9" name="Txn stat 2 value"/>
          <p:cNvSpPr txBox="1"/>
          <p:nvPr/>
        </p:nvSpPr>
        <p:spPr>
          <a:xfrm>
            <a:off x="6492240" y="2423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~63%</a:t>
            </a:r>
            <a:endParaRPr lang="en-US" sz="2600" dirty="0"/>
          </a:p>
        </p:txBody>
      </p:sp>
      <p:sp>
        <p:nvSpPr>
          <p:cNvPr id="10" name="Txn stat 2 label"/>
          <p:cNvSpPr txBox="1"/>
          <p:nvPr/>
        </p:nvSpPr>
        <p:spPr>
          <a:xfrm>
            <a:off x="649224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revenue from card swipes</a:t>
            </a:r>
            <a:endParaRPr lang="en-US" sz="1400" dirty="0"/>
          </a:p>
        </p:txBody>
      </p:sp>
      <p:sp>
        <p:nvSpPr>
          <p:cNvPr id="11" name="Txn stat 3 card"/>
          <p:cNvSpPr/>
          <p:nvPr/>
        </p:nvSpPr>
        <p:spPr>
          <a:xfrm>
            <a:off x="6355080" y="3474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2" name="Txn stat 3 value"/>
          <p:cNvSpPr txBox="1"/>
          <p:nvPr/>
        </p:nvSpPr>
        <p:spPr>
          <a:xfrm>
            <a:off x="649224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83%</a:t>
            </a:r>
            <a:endParaRPr lang="en-US" sz="2600" dirty="0"/>
          </a:p>
        </p:txBody>
      </p:sp>
      <p:sp>
        <p:nvSpPr>
          <p:cNvPr id="13" name="Txn stat 3 label"/>
          <p:cNvSpPr txBox="1"/>
          <p:nvPr/>
        </p:nvSpPr>
        <p:spPr>
          <a:xfrm>
            <a:off x="6492240" y="4023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revenue from Blue cards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 2: customer report</a:t>
            </a:r>
            <a:endParaRPr lang="en-US" sz="2800" dirty="0"/>
          </a:p>
        </p:txBody>
      </p:sp>
      <p:sp>
        <p:nvSpPr>
          <p:cNvPr id="3" name="Cust stat 1 card"/>
          <p:cNvSpPr/>
          <p:nvPr/>
        </p:nvSpPr>
        <p:spPr>
          <a:xfrm>
            <a:off x="457200" y="1188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Cust stat 1 value"/>
          <p:cNvSpPr txBox="1"/>
          <p:nvPr/>
        </p:nvSpPr>
        <p:spPr>
          <a:xfrm>
            <a:off x="594360" y="1280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~13M</a:t>
            </a:r>
            <a:endParaRPr lang="en-US" sz="2600" dirty="0"/>
          </a:p>
        </p:txBody>
      </p:sp>
      <p:sp>
        <p:nvSpPr>
          <p:cNvPr id="5" name="Cust stat 1 label"/>
          <p:cNvSpPr txBox="1"/>
          <p:nvPr/>
        </p:nvSpPr>
        <p:spPr>
          <a:xfrm>
            <a:off x="59436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each from TX, NY, CA</a:t>
            </a:r>
            <a:endParaRPr lang="en-US" sz="1400" dirty="0"/>
          </a:p>
        </p:txBody>
      </p:sp>
      <p:sp>
        <p:nvSpPr>
          <p:cNvPr id="6" name="Cust stat 2 card"/>
          <p:cNvSpPr/>
          <p:nvPr/>
        </p:nvSpPr>
        <p:spPr>
          <a:xfrm>
            <a:off x="457200" y="2331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Cust stat 2 value"/>
          <p:cNvSpPr txBox="1"/>
          <p:nvPr/>
        </p:nvSpPr>
        <p:spPr>
          <a:xfrm>
            <a:off x="594360" y="2423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~29M</a:t>
            </a:r>
            <a:endParaRPr lang="en-US" sz="2600" dirty="0"/>
          </a:p>
        </p:txBody>
      </p:sp>
      <p:sp>
        <p:nvSpPr>
          <p:cNvPr id="8" name="Cust stat 2 label"/>
          <p:cNvSpPr txBox="1"/>
          <p:nvPr/>
        </p:nvSpPr>
        <p:spPr>
          <a:xfrm>
            <a:off x="59436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high-income (~52%)</a:t>
            </a:r>
            <a:endParaRPr lang="en-US" sz="1400" dirty="0"/>
          </a:p>
        </p:txBody>
      </p:sp>
      <p:sp>
        <p:nvSpPr>
          <p:cNvPr id="9" name="Cust stat 3 card"/>
          <p:cNvSpPr/>
          <p:nvPr/>
        </p:nvSpPr>
        <p:spPr>
          <a:xfrm>
            <a:off x="457200" y="3474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Cust stat 3 value"/>
          <p:cNvSpPr txBox="1"/>
          <p:nvPr/>
        </p:nvSpPr>
        <p:spPr>
          <a:xfrm>
            <a:off x="59436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40-50</a:t>
            </a:r>
            <a:endParaRPr lang="en-US" sz="2600" dirty="0"/>
          </a:p>
        </p:txBody>
      </p:sp>
      <p:sp>
        <p:nvSpPr>
          <p:cNvPr id="11" name="Cust stat 3 label"/>
          <p:cNvSpPr txBox="1"/>
          <p:nvPr/>
        </p:nvSpPr>
        <p:spPr>
          <a:xfrm>
            <a:off x="594360" y="4023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 band earns most (~23M)</a:t>
            </a:r>
            <a:endParaRPr lang="en-US" sz="1400" dirty="0"/>
          </a:p>
        </p:txBody>
      </p:sp>
      <p:pic>
        <p:nvPicPr>
          <p:cNvPr id="12" name="Image 0" descr="Credit Card Customer Report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188720"/>
            <a:ext cx="5669280" cy="3171284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3017520" y="44331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Revenue by income, state, education, age and marital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insights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1148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 1"/>
          <p:cNvSpPr/>
          <p:nvPr/>
        </p:nvSpPr>
        <p:spPr>
          <a:xfrm>
            <a:off x="4846320" y="1188720"/>
            <a:ext cx="38404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5" name="Insight badge 1"/>
          <p:cNvSpPr/>
          <p:nvPr/>
        </p:nvSpPr>
        <p:spPr>
          <a:xfrm>
            <a:off x="4956048" y="13624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Insight number 1"/>
          <p:cNvSpPr txBox="1"/>
          <p:nvPr/>
        </p:nvSpPr>
        <p:spPr>
          <a:xfrm>
            <a:off x="4956048" y="1362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Insight text 1"/>
          <p:cNvSpPr txBox="1"/>
          <p:nvPr/>
        </p:nvSpPr>
        <p:spPr>
          <a:xfrm>
            <a:off x="5486400" y="1225296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Blue and Silver cards drive 93.5% of revenue; Platinum adds only 2%.</a:t>
            </a:r>
            <a:endParaRPr lang="en-US" sz="1400" dirty="0"/>
          </a:p>
        </p:txBody>
      </p:sp>
      <p:sp>
        <p:nvSpPr>
          <p:cNvPr id="8" name="Insight card 2"/>
          <p:cNvSpPr/>
          <p:nvPr/>
        </p:nvSpPr>
        <p:spPr>
          <a:xfrm>
            <a:off x="4846320" y="2039112"/>
            <a:ext cx="38404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9" name="Insight badge 2"/>
          <p:cNvSpPr/>
          <p:nvPr/>
        </p:nvSpPr>
        <p:spPr>
          <a:xfrm>
            <a:off x="4956048" y="22128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Insight number 2"/>
          <p:cNvSpPr txBox="1"/>
          <p:nvPr/>
        </p:nvSpPr>
        <p:spPr>
          <a:xfrm>
            <a:off x="495604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Insight text 2"/>
          <p:cNvSpPr txBox="1"/>
          <p:nvPr/>
        </p:nvSpPr>
        <p:spPr>
          <a:xfrm>
            <a:off x="5486400" y="2075688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Swipe transactions lead at 35M; online adds just 3M.</a:t>
            </a:r>
            <a:endParaRPr lang="en-US" sz="1400" dirty="0"/>
          </a:p>
        </p:txBody>
      </p:sp>
      <p:sp>
        <p:nvSpPr>
          <p:cNvPr id="12" name="Insight card 3"/>
          <p:cNvSpPr/>
          <p:nvPr/>
        </p:nvSpPr>
        <p:spPr>
          <a:xfrm>
            <a:off x="4846320" y="2889504"/>
            <a:ext cx="38404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Insight badge 3"/>
          <p:cNvSpPr/>
          <p:nvPr/>
        </p:nvSpPr>
        <p:spPr>
          <a:xfrm>
            <a:off x="4956048" y="30632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Insight number 3"/>
          <p:cNvSpPr txBox="1"/>
          <p:nvPr/>
        </p:nvSpPr>
        <p:spPr>
          <a:xfrm>
            <a:off x="4956048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Insight text 3"/>
          <p:cNvSpPr txBox="1"/>
          <p:nvPr/>
        </p:nvSpPr>
        <p:spPr>
          <a:xfrm>
            <a:off x="5486400" y="29260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Male customers bring 30.2M (54.6%) against 25.1M from female customers.</a:t>
            </a:r>
            <a:endParaRPr lang="en-US" sz="1400" dirty="0"/>
          </a:p>
        </p:txBody>
      </p:sp>
      <p:sp>
        <p:nvSpPr>
          <p:cNvPr id="16" name="Insight card 4"/>
          <p:cNvSpPr/>
          <p:nvPr/>
        </p:nvSpPr>
        <p:spPr>
          <a:xfrm>
            <a:off x="4846320" y="3739896"/>
            <a:ext cx="38404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7" name="Insight badge 4"/>
          <p:cNvSpPr/>
          <p:nvPr/>
        </p:nvSpPr>
        <p:spPr>
          <a:xfrm>
            <a:off x="4956048" y="39136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Insight number 4"/>
          <p:cNvSpPr txBox="1"/>
          <p:nvPr/>
        </p:nvSpPr>
        <p:spPr>
          <a:xfrm>
            <a:off x="4956048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nsight text 4"/>
          <p:cNvSpPr txBox="1"/>
          <p:nvPr/>
        </p:nvSpPr>
        <p:spPr>
          <a:xfrm>
            <a:off x="5486400" y="377647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Quarterly revenue is steady near 14M, with Q4 easing to 13M.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Recommendations and takeaways</a:t>
            </a:r>
            <a:endParaRPr lang="en-US" sz="2800" dirty="0"/>
          </a:p>
        </p:txBody>
      </p:sp>
      <p:sp>
        <p:nvSpPr>
          <p:cNvPr id="3" name="Reco heading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4" name="Reco list"/>
          <p:cNvSpPr txBox="1"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Promote Platinum cards to lift premium revenue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Reward online payments to grow an under-used channel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Target high-spend, middle-aged (40-50) segments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Plan campaigns around peak quarters</a:t>
            </a:r>
            <a:endParaRPr lang="en-US" sz="1600" dirty="0"/>
          </a:p>
        </p:txBody>
      </p:sp>
      <p:sp>
        <p:nvSpPr>
          <p:cNvPr id="5" name="Skills heading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Skills demonstrated</a:t>
            </a:r>
            <a:endParaRPr lang="en-US" sz="2000" dirty="0"/>
          </a:p>
        </p:txBody>
      </p:sp>
      <p:sp>
        <p:nvSpPr>
          <p:cNvPr id="6" name="Skill badge 1"/>
          <p:cNvSpPr/>
          <p:nvPr/>
        </p:nvSpPr>
        <p:spPr>
          <a:xfrm>
            <a:off x="484632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SQL data sourc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24" y="1837944"/>
            <a:ext cx="210312" cy="210312"/>
          </a:xfrm>
          <a:prstGeom prst="rect">
            <a:avLst/>
          </a:prstGeom>
        </p:spPr>
      </p:pic>
      <p:sp>
        <p:nvSpPr>
          <p:cNvPr id="8" name="Skill text 1"/>
          <p:cNvSpPr txBox="1"/>
          <p:nvPr/>
        </p:nvSpPr>
        <p:spPr>
          <a:xfrm>
            <a:off x="5532120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SQL data sourcing</a:t>
            </a:r>
            <a:endParaRPr lang="en-US" sz="1600" dirty="0"/>
          </a:p>
        </p:txBody>
      </p:sp>
      <p:sp>
        <p:nvSpPr>
          <p:cNvPr id="9" name="Skill badge 2"/>
          <p:cNvSpPr/>
          <p:nvPr/>
        </p:nvSpPr>
        <p:spPr>
          <a:xfrm>
            <a:off x="4846320" y="2377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Data modelling and relationship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2523744"/>
            <a:ext cx="210312" cy="210312"/>
          </a:xfrm>
          <a:prstGeom prst="rect">
            <a:avLst/>
          </a:prstGeom>
        </p:spPr>
      </p:pic>
      <p:sp>
        <p:nvSpPr>
          <p:cNvPr id="11" name="Skill text 2"/>
          <p:cNvSpPr txBox="1"/>
          <p:nvPr/>
        </p:nvSpPr>
        <p:spPr>
          <a:xfrm>
            <a:off x="5532120" y="2377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Data modelling and relationships</a:t>
            </a:r>
            <a:endParaRPr lang="en-US" sz="1600" dirty="0"/>
          </a:p>
        </p:txBody>
      </p:sp>
      <p:sp>
        <p:nvSpPr>
          <p:cNvPr id="12" name="Skill badge 3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DAX: SWITCH, CALCULATE, DATEAD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209544"/>
            <a:ext cx="210312" cy="210312"/>
          </a:xfrm>
          <a:prstGeom prst="rect">
            <a:avLst/>
          </a:prstGeom>
        </p:spPr>
      </p:pic>
      <p:sp>
        <p:nvSpPr>
          <p:cNvPr id="14" name="Skill text 3"/>
          <p:cNvSpPr txBox="1"/>
          <p:nvPr/>
        </p:nvSpPr>
        <p:spPr>
          <a:xfrm>
            <a:off x="5532120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DAX: SWITCH, CALCULATE, DATEADD</a:t>
            </a:r>
            <a:endParaRPr lang="en-US" sz="1600" dirty="0"/>
          </a:p>
        </p:txBody>
      </p:sp>
      <p:sp>
        <p:nvSpPr>
          <p:cNvPr id="15" name="Skill badge 4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Dashboard design and storytell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895344"/>
            <a:ext cx="210312" cy="210312"/>
          </a:xfrm>
          <a:prstGeom prst="rect">
            <a:avLst/>
          </a:prstGeom>
        </p:spPr>
      </p:pic>
      <p:sp>
        <p:nvSpPr>
          <p:cNvPr id="17" name="Skill text 4"/>
          <p:cNvSpPr txBox="1"/>
          <p:nvPr/>
        </p:nvSpPr>
        <p:spPr>
          <a:xfrm>
            <a:off x="5532120" y="3749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Dashboard design and storytelling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CardBI">
  <a:themeElements>
    <a:clrScheme name="CreditCardBI">
      <a:dk1>
        <a:srgbClr val="0F1B2D"/>
      </a:dk1>
      <a:lt1>
        <a:srgbClr val="FFFFFF"/>
      </a:lt1>
      <a:dk2>
        <a:srgbClr val="1F3350"/>
      </a:dk2>
      <a:lt2>
        <a:srgbClr val="EEF2F6"/>
      </a:lt2>
      <a:accent1>
        <a:srgbClr val="0E7C9B"/>
      </a:accent1>
      <a:accent2>
        <a:srgbClr val="E8793A"/>
      </a:accent2>
      <a:accent3>
        <a:srgbClr val="F5B700"/>
      </a:accent3>
      <a:accent4>
        <a:srgbClr val="5CC8A1"/>
      </a:accent4>
      <a:accent5>
        <a:srgbClr val="5B6B80"/>
      </a:accent5>
      <a:accent6>
        <a:srgbClr val="8CCBE0"/>
      </a:accent6>
      <a:hlink>
        <a:srgbClr val="0E7C9B"/>
      </a:hlink>
      <a:folHlink>
        <a:srgbClr val="5B6B80"/>
      </a:folHlink>
    </a:clrScheme>
    <a:fontScheme name="CreditCardB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Financial Dashboard</dc:title>
  <dc:subject>PptxGenJS Presentation</dc:subject>
  <dc:creator>PptxGenJS</dc:creator>
  <cp:lastModifiedBy>PptxGenJS</cp:lastModifiedBy>
  <cp:revision>1</cp:revision>
  <dcterms:created xsi:type="dcterms:W3CDTF">2026-10-25T05:55:29Z</dcterms:created>
  <dcterms:modified xsi:type="dcterms:W3CDTF">2026-10-25T05:55:29Z</dcterms:modified>
</cp:coreProperties>
</file>